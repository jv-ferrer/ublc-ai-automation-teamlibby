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Bold" charset="1" panose="00000800000000000000"/>
      <p:regular r:id="rId14"/>
    </p:embeddedFont>
    <p:embeddedFont>
      <p:font typeface="Montserrat"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chatlibby-b9310.web.app/auth.html"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260288" y="0"/>
            <a:ext cx="18548288" cy="10590753"/>
          </a:xfrm>
          <a:prstGeom prst="rect">
            <a:avLst/>
          </a:prstGeom>
          <a:solidFill>
            <a:srgbClr val="000000"/>
          </a:solidFill>
        </p:spPr>
      </p:sp>
      <p:sp>
        <p:nvSpPr>
          <p:cNvPr name="Freeform 3" id="3"/>
          <p:cNvSpPr/>
          <p:nvPr/>
        </p:nvSpPr>
        <p:spPr>
          <a:xfrm flipH="false" flipV="false" rot="0">
            <a:off x="7537224" y="796915"/>
            <a:ext cx="2953264" cy="3113127"/>
          </a:xfrm>
          <a:custGeom>
            <a:avLst/>
            <a:gdLst/>
            <a:ahLst/>
            <a:cxnLst/>
            <a:rect r="r" b="b" t="t" l="l"/>
            <a:pathLst>
              <a:path h="3113127" w="2953264">
                <a:moveTo>
                  <a:pt x="0" y="0"/>
                </a:moveTo>
                <a:lnTo>
                  <a:pt x="2953264" y="0"/>
                </a:lnTo>
                <a:lnTo>
                  <a:pt x="2953264" y="3113127"/>
                </a:lnTo>
                <a:lnTo>
                  <a:pt x="0" y="3113127"/>
                </a:lnTo>
                <a:lnTo>
                  <a:pt x="0" y="0"/>
                </a:lnTo>
                <a:close/>
              </a:path>
            </a:pathLst>
          </a:custGeom>
          <a:blipFill>
            <a:blip r:embed="rId2"/>
            <a:stretch>
              <a:fillRect l="0" t="0" r="0" b="0"/>
            </a:stretch>
          </a:blipFill>
        </p:spPr>
      </p:sp>
      <p:sp>
        <p:nvSpPr>
          <p:cNvPr name="TextBox 4" id="4"/>
          <p:cNvSpPr txBox="true"/>
          <p:nvPr/>
        </p:nvSpPr>
        <p:spPr>
          <a:xfrm rot="0">
            <a:off x="3543900" y="4624417"/>
            <a:ext cx="11200199" cy="1348090"/>
          </a:xfrm>
          <a:prstGeom prst="rect">
            <a:avLst/>
          </a:prstGeom>
        </p:spPr>
        <p:txBody>
          <a:bodyPr anchor="t" rtlCol="false" tIns="0" lIns="0" bIns="0" rIns="0">
            <a:spAutoFit/>
          </a:bodyPr>
          <a:lstStyle/>
          <a:p>
            <a:pPr algn="ctr">
              <a:lnSpc>
                <a:spcPts val="9511"/>
              </a:lnSpc>
            </a:pPr>
            <a:r>
              <a:rPr lang="en-US" b="true" sz="11459">
                <a:solidFill>
                  <a:srgbClr val="FFD900"/>
                </a:solidFill>
                <a:latin typeface="Montserrat Bold"/>
                <a:ea typeface="Montserrat Bold"/>
                <a:cs typeface="Montserrat Bold"/>
                <a:sym typeface="Montserrat Bold"/>
              </a:rPr>
              <a:t>Project Libby</a:t>
            </a:r>
          </a:p>
        </p:txBody>
      </p:sp>
      <p:sp>
        <p:nvSpPr>
          <p:cNvPr name="TextBox 5" id="5"/>
          <p:cNvSpPr txBox="true"/>
          <p:nvPr/>
        </p:nvSpPr>
        <p:spPr>
          <a:xfrm rot="0">
            <a:off x="3543900" y="6494673"/>
            <a:ext cx="11200199" cy="644107"/>
          </a:xfrm>
          <a:prstGeom prst="rect">
            <a:avLst/>
          </a:prstGeom>
        </p:spPr>
        <p:txBody>
          <a:bodyPr anchor="t" rtlCol="false" tIns="0" lIns="0" bIns="0" rIns="0">
            <a:spAutoFit/>
          </a:bodyPr>
          <a:lstStyle/>
          <a:p>
            <a:pPr algn="ctr">
              <a:lnSpc>
                <a:spcPts val="4648"/>
              </a:lnSpc>
            </a:pPr>
            <a:r>
              <a:rPr lang="en-US" sz="5600">
                <a:solidFill>
                  <a:srgbClr val="FFFFFF"/>
                </a:solidFill>
                <a:latin typeface="Montserrat"/>
                <a:ea typeface="Montserrat"/>
                <a:cs typeface="Montserrat"/>
                <a:sym typeface="Montserrat"/>
              </a:rPr>
              <a:t>Presentation</a:t>
            </a:r>
          </a:p>
        </p:txBody>
      </p:sp>
      <p:sp>
        <p:nvSpPr>
          <p:cNvPr name="TextBox 6" id="6"/>
          <p:cNvSpPr txBox="true"/>
          <p:nvPr/>
        </p:nvSpPr>
        <p:spPr>
          <a:xfrm rot="0">
            <a:off x="5898012" y="7690793"/>
            <a:ext cx="6491976" cy="362076"/>
          </a:xfrm>
          <a:prstGeom prst="rect">
            <a:avLst/>
          </a:prstGeom>
        </p:spPr>
        <p:txBody>
          <a:bodyPr anchor="t" rtlCol="false" tIns="0" lIns="0" bIns="0" rIns="0">
            <a:spAutoFit/>
          </a:bodyPr>
          <a:lstStyle/>
          <a:p>
            <a:pPr algn="ctr">
              <a:lnSpc>
                <a:spcPts val="2694"/>
              </a:lnSpc>
            </a:pPr>
            <a:r>
              <a:rPr lang="en-US" sz="3245" u="sng">
                <a:solidFill>
                  <a:srgbClr val="FFFFFF"/>
                </a:solidFill>
                <a:latin typeface="Montserrat"/>
                <a:ea typeface="Montserrat"/>
                <a:cs typeface="Montserrat"/>
                <a:sym typeface="Montserrat"/>
                <a:hlinkClick r:id="rId3" tooltip="https://chatlibby-b9310.web.app/auth.html"/>
              </a:rPr>
              <a:t>ChatLibby</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434343"/>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337584" y="5557246"/>
          <a:ext cx="11305665" cy="4183790"/>
        </p:xfrm>
        <a:graphic>
          <a:graphicData uri="http://schemas.openxmlformats.org/drawingml/2006/table">
            <a:tbl>
              <a:tblPr/>
              <a:tblGrid>
                <a:gridCol w="3449435"/>
                <a:gridCol w="3449435"/>
                <a:gridCol w="4406794"/>
              </a:tblGrid>
              <a:tr h="719689">
                <a:tc>
                  <a:txBody>
                    <a:bodyPr anchor="t" rtlCol="false"/>
                    <a:lstStyle/>
                    <a:p>
                      <a:pPr algn="l">
                        <a:lnSpc>
                          <a:spcPts val="2610"/>
                        </a:lnSpc>
                        <a:defRPr/>
                      </a:pPr>
                      <a:r>
                        <a:rPr lang="en-US" sz="1864">
                          <a:solidFill>
                            <a:srgbClr val="FFFFFF"/>
                          </a:solidFill>
                          <a:latin typeface="Montserrat"/>
                          <a:ea typeface="Montserrat"/>
                          <a:cs typeface="Montserrat"/>
                          <a:sym typeface="Montserrat"/>
                        </a:rPr>
                        <a:t>Name</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c>
                  <a:txBody>
                    <a:bodyPr anchor="t" rtlCol="false"/>
                    <a:lstStyle/>
                    <a:p>
                      <a:pPr algn="l">
                        <a:lnSpc>
                          <a:spcPts val="2610"/>
                        </a:lnSpc>
                        <a:defRPr/>
                      </a:pPr>
                      <a:r>
                        <a:rPr lang="en-US" sz="1864">
                          <a:solidFill>
                            <a:srgbClr val="FFFFFF"/>
                          </a:solidFill>
                          <a:latin typeface="Montserrat"/>
                          <a:ea typeface="Montserrat"/>
                          <a:cs typeface="Montserrat"/>
                          <a:sym typeface="Montserrat"/>
                        </a:rPr>
                        <a:t>Role</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c>
                  <a:txBody>
                    <a:bodyPr anchor="t" rtlCol="false"/>
                    <a:lstStyle/>
                    <a:p>
                      <a:pPr algn="l">
                        <a:lnSpc>
                          <a:spcPts val="2610"/>
                        </a:lnSpc>
                        <a:defRPr/>
                      </a:pPr>
                      <a:r>
                        <a:rPr lang="en-US" sz="1864">
                          <a:solidFill>
                            <a:srgbClr val="FFFFFF"/>
                          </a:solidFill>
                          <a:latin typeface="Montserrat"/>
                          <a:ea typeface="Montserrat"/>
                          <a:cs typeface="Montserrat"/>
                          <a:sym typeface="Montserrat"/>
                        </a:rPr>
                        <a:t>Responsibilities</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r>
              <a:tr h="1372206">
                <a:tc>
                  <a:txBody>
                    <a:bodyPr anchor="t" rtlCol="false"/>
                    <a:lstStyle/>
                    <a:p>
                      <a:pPr algn="l">
                        <a:lnSpc>
                          <a:spcPts val="2610"/>
                        </a:lnSpc>
                        <a:defRPr/>
                      </a:pPr>
                      <a:r>
                        <a:rPr lang="en-US" sz="1864">
                          <a:solidFill>
                            <a:srgbClr val="FFFFFF"/>
                          </a:solidFill>
                          <a:latin typeface="Montserrat"/>
                          <a:ea typeface="Montserrat"/>
                          <a:cs typeface="Montserrat"/>
                          <a:sym typeface="Montserrat"/>
                        </a:rPr>
                        <a:t>John Rico Tolentino</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c>
                  <a:txBody>
                    <a:bodyPr anchor="t" rtlCol="false"/>
                    <a:lstStyle/>
                    <a:p>
                      <a:pPr algn="l">
                        <a:lnSpc>
                          <a:spcPts val="2610"/>
                        </a:lnSpc>
                        <a:defRPr/>
                      </a:pPr>
                      <a:r>
                        <a:rPr lang="en-US" sz="1864">
                          <a:solidFill>
                            <a:srgbClr val="FFFFFF"/>
                          </a:solidFill>
                          <a:latin typeface="Montserrat"/>
                          <a:ea typeface="Montserrat"/>
                          <a:cs typeface="Montserrat"/>
                          <a:sym typeface="Montserrat"/>
                        </a:rPr>
                        <a:t>Project Lead, Frontend Developer, UI/UX</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c>
                  <a:txBody>
                    <a:bodyPr anchor="t" rtlCol="false"/>
                    <a:lstStyle/>
                    <a:p>
                      <a:pPr algn="l">
                        <a:lnSpc>
                          <a:spcPts val="2610"/>
                        </a:lnSpc>
                        <a:defRPr/>
                      </a:pPr>
                      <a:r>
                        <a:rPr lang="en-US" sz="1864">
                          <a:solidFill>
                            <a:srgbClr val="FFFFFF"/>
                          </a:solidFill>
                          <a:latin typeface="Montserrat"/>
                          <a:ea typeface="Montserrat"/>
                          <a:cs typeface="Montserrat"/>
                          <a:sym typeface="Montserrat"/>
                        </a:rPr>
                        <a:t>Oversees the project and develops the responsive user interface.</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r>
              <a:tr h="1045947">
                <a:tc>
                  <a:txBody>
                    <a:bodyPr anchor="t" rtlCol="false"/>
                    <a:lstStyle/>
                    <a:p>
                      <a:pPr algn="l">
                        <a:lnSpc>
                          <a:spcPts val="2610"/>
                        </a:lnSpc>
                        <a:defRPr/>
                      </a:pPr>
                      <a:r>
                        <a:rPr lang="en-US" sz="1864">
                          <a:solidFill>
                            <a:srgbClr val="FFFFFF"/>
                          </a:solidFill>
                          <a:latin typeface="Montserrat"/>
                          <a:ea typeface="Montserrat"/>
                          <a:cs typeface="Montserrat"/>
                          <a:sym typeface="Montserrat"/>
                        </a:rPr>
                        <a:t>Erik John Roxas</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c>
                  <a:txBody>
                    <a:bodyPr anchor="t" rtlCol="false"/>
                    <a:lstStyle/>
                    <a:p>
                      <a:pPr algn="l">
                        <a:lnSpc>
                          <a:spcPts val="2610"/>
                        </a:lnSpc>
                        <a:defRPr/>
                      </a:pPr>
                      <a:r>
                        <a:rPr lang="en-US" sz="1864">
                          <a:solidFill>
                            <a:srgbClr val="FFFFFF"/>
                          </a:solidFill>
                          <a:latin typeface="Montserrat"/>
                          <a:ea typeface="Montserrat"/>
                          <a:cs typeface="Montserrat"/>
                          <a:sym typeface="Montserrat"/>
                        </a:rPr>
                        <a:t>Backend Developer, Security</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c>
                  <a:txBody>
                    <a:bodyPr anchor="t" rtlCol="false"/>
                    <a:lstStyle/>
                    <a:p>
                      <a:pPr algn="l">
                        <a:lnSpc>
                          <a:spcPts val="2610"/>
                        </a:lnSpc>
                        <a:defRPr/>
                      </a:pPr>
                      <a:r>
                        <a:rPr lang="en-US" sz="1864">
                          <a:solidFill>
                            <a:srgbClr val="FFFFFF"/>
                          </a:solidFill>
                          <a:latin typeface="Montserrat"/>
                          <a:ea typeface="Montserrat"/>
                          <a:cs typeface="Montserrat"/>
                          <a:sym typeface="Montserrat"/>
                        </a:rPr>
                        <a:t>Designs backend automation and ensures data security.</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r>
              <a:tr h="1045947">
                <a:tc>
                  <a:txBody>
                    <a:bodyPr anchor="t" rtlCol="false"/>
                    <a:lstStyle/>
                    <a:p>
                      <a:pPr algn="l">
                        <a:lnSpc>
                          <a:spcPts val="2610"/>
                        </a:lnSpc>
                        <a:defRPr/>
                      </a:pPr>
                      <a:r>
                        <a:rPr lang="en-US" sz="1864">
                          <a:solidFill>
                            <a:srgbClr val="FFFFFF"/>
                          </a:solidFill>
                          <a:latin typeface="Montserrat"/>
                          <a:ea typeface="Montserrat"/>
                          <a:cs typeface="Montserrat"/>
                          <a:sym typeface="Montserrat"/>
                        </a:rPr>
                        <a:t>John Vincent Ferrer</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c>
                  <a:txBody>
                    <a:bodyPr anchor="t" rtlCol="false"/>
                    <a:lstStyle/>
                    <a:p>
                      <a:pPr algn="l">
                        <a:lnSpc>
                          <a:spcPts val="2610"/>
                        </a:lnSpc>
                        <a:defRPr/>
                      </a:pPr>
                      <a:r>
                        <a:rPr lang="en-US" sz="1864">
                          <a:solidFill>
                            <a:srgbClr val="FFFFFF"/>
                          </a:solidFill>
                          <a:latin typeface="Montserrat"/>
                          <a:ea typeface="Montserrat"/>
                          <a:cs typeface="Montserrat"/>
                          <a:sym typeface="Montserrat"/>
                        </a:rPr>
                        <a:t>DevOps, Tester</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c>
                  <a:txBody>
                    <a:bodyPr anchor="t" rtlCol="false"/>
                    <a:lstStyle/>
                    <a:p>
                      <a:pPr algn="l">
                        <a:lnSpc>
                          <a:spcPts val="2610"/>
                        </a:lnSpc>
                        <a:defRPr/>
                      </a:pPr>
                      <a:r>
                        <a:rPr lang="en-US" sz="1864">
                          <a:solidFill>
                            <a:srgbClr val="FFFFFF"/>
                          </a:solidFill>
                          <a:latin typeface="Montserrat"/>
                          <a:ea typeface="Montserrat"/>
                          <a:cs typeface="Montserrat"/>
                          <a:sym typeface="Montserrat"/>
                        </a:rPr>
                        <a:t>Manages deployment, GitHub activity, and system testing.</a:t>
                      </a:r>
                      <a:endParaRPr lang="en-US" sz="1100"/>
                    </a:p>
                  </a:txBody>
                  <a:tcPr marL="154448" marR="154448" marT="154448" marB="154448" anchor="ctr">
                    <a:lnL cmpd="sng" algn="ctr" cap="flat" w="25044">
                      <a:solidFill>
                        <a:srgbClr val="FFFFFF"/>
                      </a:solidFill>
                      <a:prstDash val="solid"/>
                      <a:round/>
                      <a:headEnd type="none" w="med" len="med"/>
                      <a:tailEnd type="none" w="med" len="med"/>
                    </a:lnL>
                    <a:lnR cmpd="sng" algn="ctr" cap="flat" w="25044">
                      <a:solidFill>
                        <a:srgbClr val="FFFFFF"/>
                      </a:solidFill>
                      <a:prstDash val="solid"/>
                      <a:round/>
                      <a:headEnd type="none" w="med" len="med"/>
                      <a:tailEnd type="none" w="med" len="med"/>
                    </a:lnR>
                    <a:lnT cmpd="sng" algn="ctr" cap="flat" w="25044">
                      <a:solidFill>
                        <a:srgbClr val="FFFFFF"/>
                      </a:solidFill>
                      <a:prstDash val="solid"/>
                      <a:round/>
                      <a:headEnd type="none" w="med" len="med"/>
                      <a:tailEnd type="none" w="med" len="med"/>
                    </a:lnT>
                    <a:lnB cmpd="sng" algn="ctr" cap="flat" w="25044">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3068240" y="922955"/>
            <a:ext cx="12151521" cy="778666"/>
          </a:xfrm>
          <a:prstGeom prst="rect">
            <a:avLst/>
          </a:prstGeom>
        </p:spPr>
        <p:txBody>
          <a:bodyPr anchor="t" rtlCol="false" tIns="0" lIns="0" bIns="0" rIns="0">
            <a:spAutoFit/>
          </a:bodyPr>
          <a:lstStyle/>
          <a:p>
            <a:pPr algn="ctr">
              <a:lnSpc>
                <a:spcPts val="5508"/>
              </a:lnSpc>
            </a:pPr>
            <a:r>
              <a:rPr lang="en-US" sz="6636">
                <a:solidFill>
                  <a:srgbClr val="FFD900"/>
                </a:solidFill>
                <a:latin typeface="Montserrat"/>
                <a:ea typeface="Montserrat"/>
                <a:cs typeface="Montserrat"/>
                <a:sym typeface="Montserrat"/>
              </a:rPr>
              <a:t>Project Overview </a:t>
            </a:r>
          </a:p>
        </p:txBody>
      </p:sp>
      <p:sp>
        <p:nvSpPr>
          <p:cNvPr name="TextBox 4" id="4"/>
          <p:cNvSpPr txBox="true"/>
          <p:nvPr/>
        </p:nvSpPr>
        <p:spPr>
          <a:xfrm rot="0">
            <a:off x="2501209" y="2270258"/>
            <a:ext cx="13914468" cy="2649343"/>
          </a:xfrm>
          <a:prstGeom prst="rect">
            <a:avLst/>
          </a:prstGeom>
        </p:spPr>
        <p:txBody>
          <a:bodyPr anchor="t" rtlCol="false" tIns="0" lIns="0" bIns="0" rIns="0">
            <a:spAutoFit/>
          </a:bodyPr>
          <a:lstStyle/>
          <a:p>
            <a:pPr algn="ctr">
              <a:lnSpc>
                <a:spcPts val="3073"/>
              </a:lnSpc>
            </a:pPr>
            <a:r>
              <a:rPr lang="en-US" sz="2195">
                <a:solidFill>
                  <a:srgbClr val="FFFFFF"/>
                </a:solidFill>
                <a:latin typeface="Montserrat"/>
                <a:ea typeface="Montserrat"/>
                <a:cs typeface="Montserrat"/>
                <a:sym typeface="Montserrat"/>
              </a:rPr>
              <a:t>Projec</a:t>
            </a:r>
            <a:r>
              <a:rPr lang="en-US" sz="2195">
                <a:solidFill>
                  <a:srgbClr val="FFFFFF"/>
                </a:solidFill>
                <a:latin typeface="Montserrat"/>
                <a:ea typeface="Montserrat"/>
                <a:cs typeface="Montserrat"/>
                <a:sym typeface="Montserrat"/>
              </a:rPr>
              <a:t>t Libby is an AI-driven chatbot and automation system designed to streamline library services at the University of Batangas – Lipa Campus. It allows students to search books, check availability, and request information through a responsive conversational interface. The system integrates AI processing with n8n automation and tools like Gmail, Google Sheets, and Google Docs to ensure fast, consistent, and reliable library assistance while reducing manual workload for staff.</a:t>
            </a:r>
          </a:p>
          <a:p>
            <a:pPr algn="ctr">
              <a:lnSpc>
                <a:spcPts val="3073"/>
              </a:lnSpc>
            </a:pPr>
          </a:p>
          <a:p>
            <a:pPr algn="ctr">
              <a:lnSpc>
                <a:spcPts val="3073"/>
              </a:lnSpc>
              <a:spcBef>
                <a:spcPct val="0"/>
              </a:spcBef>
            </a:pPr>
          </a:p>
        </p:txBody>
      </p:sp>
      <p:sp>
        <p:nvSpPr>
          <p:cNvPr name="TextBox 5" id="5"/>
          <p:cNvSpPr txBox="true"/>
          <p:nvPr/>
        </p:nvSpPr>
        <p:spPr>
          <a:xfrm rot="0">
            <a:off x="6339964" y="4741681"/>
            <a:ext cx="5608073" cy="504948"/>
          </a:xfrm>
          <a:prstGeom prst="rect">
            <a:avLst/>
          </a:prstGeom>
        </p:spPr>
        <p:txBody>
          <a:bodyPr anchor="t" rtlCol="false" tIns="0" lIns="0" bIns="0" rIns="0">
            <a:spAutoFit/>
          </a:bodyPr>
          <a:lstStyle/>
          <a:p>
            <a:pPr algn="ctr">
              <a:lnSpc>
                <a:spcPts val="4193"/>
              </a:lnSpc>
              <a:spcBef>
                <a:spcPct val="0"/>
              </a:spcBef>
            </a:pPr>
            <a:r>
              <a:rPr lang="en-US" b="true" sz="2995">
                <a:solidFill>
                  <a:srgbClr val="FFFFFF"/>
                </a:solidFill>
                <a:latin typeface="Montserrat Bold"/>
                <a:ea typeface="Montserrat Bold"/>
                <a:cs typeface="Montserrat Bold"/>
                <a:sym typeface="Montserrat Bold"/>
              </a:rPr>
              <a:t>Assignment of Roles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434343"/>
        </a:solidFill>
      </p:bgPr>
    </p:bg>
    <p:spTree>
      <p:nvGrpSpPr>
        <p:cNvPr id="1" name=""/>
        <p:cNvGrpSpPr/>
        <p:nvPr/>
      </p:nvGrpSpPr>
      <p:grpSpPr>
        <a:xfrm>
          <a:off x="0" y="0"/>
          <a:ext cx="0" cy="0"/>
          <a:chOff x="0" y="0"/>
          <a:chExt cx="0" cy="0"/>
        </a:xfrm>
      </p:grpSpPr>
      <p:sp>
        <p:nvSpPr>
          <p:cNvPr name="Freeform 2" id="2"/>
          <p:cNvSpPr/>
          <p:nvPr/>
        </p:nvSpPr>
        <p:spPr>
          <a:xfrm flipH="false" flipV="false" rot="0">
            <a:off x="3493371" y="2353475"/>
            <a:ext cx="11301259" cy="5933161"/>
          </a:xfrm>
          <a:custGeom>
            <a:avLst/>
            <a:gdLst/>
            <a:ahLst/>
            <a:cxnLst/>
            <a:rect r="r" b="b" t="t" l="l"/>
            <a:pathLst>
              <a:path h="5933161" w="11301259">
                <a:moveTo>
                  <a:pt x="0" y="0"/>
                </a:moveTo>
                <a:lnTo>
                  <a:pt x="11301258" y="0"/>
                </a:lnTo>
                <a:lnTo>
                  <a:pt x="11301258" y="5933161"/>
                </a:lnTo>
                <a:lnTo>
                  <a:pt x="0" y="5933161"/>
                </a:lnTo>
                <a:lnTo>
                  <a:pt x="0" y="0"/>
                </a:lnTo>
                <a:close/>
              </a:path>
            </a:pathLst>
          </a:custGeom>
          <a:blipFill>
            <a:blip r:embed="rId2"/>
            <a:stretch>
              <a:fillRect l="0" t="0" r="0" b="0"/>
            </a:stretch>
          </a:blipFill>
        </p:spPr>
      </p:sp>
      <p:sp>
        <p:nvSpPr>
          <p:cNvPr name="TextBox 3" id="3"/>
          <p:cNvSpPr txBox="true"/>
          <p:nvPr/>
        </p:nvSpPr>
        <p:spPr>
          <a:xfrm rot="0">
            <a:off x="3068240" y="922955"/>
            <a:ext cx="12151521" cy="778666"/>
          </a:xfrm>
          <a:prstGeom prst="rect">
            <a:avLst/>
          </a:prstGeom>
        </p:spPr>
        <p:txBody>
          <a:bodyPr anchor="t" rtlCol="false" tIns="0" lIns="0" bIns="0" rIns="0">
            <a:spAutoFit/>
          </a:bodyPr>
          <a:lstStyle/>
          <a:p>
            <a:pPr algn="ctr">
              <a:lnSpc>
                <a:spcPts val="5508"/>
              </a:lnSpc>
            </a:pPr>
            <a:r>
              <a:rPr lang="en-US" sz="6636">
                <a:solidFill>
                  <a:srgbClr val="FFD900"/>
                </a:solidFill>
                <a:latin typeface="Montserrat"/>
                <a:ea typeface="Montserrat"/>
                <a:cs typeface="Montserrat"/>
                <a:sym typeface="Montserrat"/>
              </a:rPr>
              <a:t>System Architecture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34343"/>
        </a:solidFill>
      </p:bgPr>
    </p:bg>
    <p:spTree>
      <p:nvGrpSpPr>
        <p:cNvPr id="1" name=""/>
        <p:cNvGrpSpPr/>
        <p:nvPr/>
      </p:nvGrpSpPr>
      <p:grpSpPr>
        <a:xfrm>
          <a:off x="0" y="0"/>
          <a:ext cx="0" cy="0"/>
          <a:chOff x="0" y="0"/>
          <a:chExt cx="0" cy="0"/>
        </a:xfrm>
      </p:grpSpPr>
      <p:sp>
        <p:nvSpPr>
          <p:cNvPr name="Freeform 2" id="2"/>
          <p:cNvSpPr/>
          <p:nvPr/>
        </p:nvSpPr>
        <p:spPr>
          <a:xfrm flipH="false" flipV="false" rot="0">
            <a:off x="574416" y="2059719"/>
            <a:ext cx="9878787" cy="3902121"/>
          </a:xfrm>
          <a:custGeom>
            <a:avLst/>
            <a:gdLst/>
            <a:ahLst/>
            <a:cxnLst/>
            <a:rect r="r" b="b" t="t" l="l"/>
            <a:pathLst>
              <a:path h="3902121" w="9878787">
                <a:moveTo>
                  <a:pt x="0" y="0"/>
                </a:moveTo>
                <a:lnTo>
                  <a:pt x="9878788" y="0"/>
                </a:lnTo>
                <a:lnTo>
                  <a:pt x="9878788" y="3902121"/>
                </a:lnTo>
                <a:lnTo>
                  <a:pt x="0" y="3902121"/>
                </a:lnTo>
                <a:lnTo>
                  <a:pt x="0" y="0"/>
                </a:lnTo>
                <a:close/>
              </a:path>
            </a:pathLst>
          </a:custGeom>
          <a:blipFill>
            <a:blip r:embed="rId2"/>
            <a:stretch>
              <a:fillRect l="0" t="0" r="0" b="0"/>
            </a:stretch>
          </a:blipFill>
        </p:spPr>
      </p:sp>
      <p:sp>
        <p:nvSpPr>
          <p:cNvPr name="TextBox 3" id="3"/>
          <p:cNvSpPr txBox="true"/>
          <p:nvPr/>
        </p:nvSpPr>
        <p:spPr>
          <a:xfrm rot="0">
            <a:off x="3068240" y="922955"/>
            <a:ext cx="12151521" cy="778592"/>
          </a:xfrm>
          <a:prstGeom prst="rect">
            <a:avLst/>
          </a:prstGeom>
        </p:spPr>
        <p:txBody>
          <a:bodyPr anchor="t" rtlCol="false" tIns="0" lIns="0" bIns="0" rIns="0">
            <a:spAutoFit/>
          </a:bodyPr>
          <a:lstStyle/>
          <a:p>
            <a:pPr algn="ctr">
              <a:lnSpc>
                <a:spcPts val="5508"/>
              </a:lnSpc>
            </a:pPr>
            <a:r>
              <a:rPr lang="en-US" sz="6636">
                <a:solidFill>
                  <a:srgbClr val="FFD900"/>
                </a:solidFill>
                <a:latin typeface="Montserrat"/>
                <a:ea typeface="Montserrat"/>
                <a:cs typeface="Montserrat"/>
                <a:sym typeface="Montserrat"/>
              </a:rPr>
              <a:t>Backend Process</a:t>
            </a:r>
          </a:p>
        </p:txBody>
      </p:sp>
      <p:sp>
        <p:nvSpPr>
          <p:cNvPr name="Freeform 4" id="4"/>
          <p:cNvSpPr/>
          <p:nvPr/>
        </p:nvSpPr>
        <p:spPr>
          <a:xfrm flipH="false" flipV="false" rot="0">
            <a:off x="9144000" y="6081823"/>
            <a:ext cx="8367605" cy="3866992"/>
          </a:xfrm>
          <a:custGeom>
            <a:avLst/>
            <a:gdLst/>
            <a:ahLst/>
            <a:cxnLst/>
            <a:rect r="r" b="b" t="t" l="l"/>
            <a:pathLst>
              <a:path h="3866992" w="8367605">
                <a:moveTo>
                  <a:pt x="0" y="0"/>
                </a:moveTo>
                <a:lnTo>
                  <a:pt x="8367605" y="0"/>
                </a:lnTo>
                <a:lnTo>
                  <a:pt x="8367605" y="3866992"/>
                </a:lnTo>
                <a:lnTo>
                  <a:pt x="0" y="3866992"/>
                </a:lnTo>
                <a:lnTo>
                  <a:pt x="0" y="0"/>
                </a:lnTo>
                <a:close/>
              </a:path>
            </a:pathLst>
          </a:custGeom>
          <a:blipFill>
            <a:blip r:embed="rId3"/>
            <a:stretch>
              <a:fillRect l="0" t="0" r="-9233" b="-17295"/>
            </a:stretch>
          </a:blipFill>
        </p:spPr>
      </p:sp>
      <p:sp>
        <p:nvSpPr>
          <p:cNvPr name="TextBox 5" id="5"/>
          <p:cNvSpPr txBox="true"/>
          <p:nvPr/>
        </p:nvSpPr>
        <p:spPr>
          <a:xfrm rot="0">
            <a:off x="9139238" y="4730175"/>
            <a:ext cx="9525" cy="1126824"/>
          </a:xfrm>
          <a:prstGeom prst="rect">
            <a:avLst/>
          </a:prstGeom>
        </p:spPr>
        <p:txBody>
          <a:bodyPr anchor="t" rtlCol="false" tIns="0" lIns="0" bIns="0" rIns="0">
            <a:spAutoFit/>
          </a:bodyPr>
          <a:lstStyle/>
          <a:p>
            <a:pPr algn="ctr">
              <a:lnSpc>
                <a:spcPts val="9291"/>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34343"/>
        </a:solidFill>
      </p:bgPr>
    </p:bg>
    <p:spTree>
      <p:nvGrpSpPr>
        <p:cNvPr id="1" name=""/>
        <p:cNvGrpSpPr/>
        <p:nvPr/>
      </p:nvGrpSpPr>
      <p:grpSpPr>
        <a:xfrm>
          <a:off x="0" y="0"/>
          <a:ext cx="0" cy="0"/>
          <a:chOff x="0" y="0"/>
          <a:chExt cx="0" cy="0"/>
        </a:xfrm>
      </p:grpSpPr>
      <p:sp>
        <p:nvSpPr>
          <p:cNvPr name="Freeform 2" id="2"/>
          <p:cNvSpPr/>
          <p:nvPr/>
        </p:nvSpPr>
        <p:spPr>
          <a:xfrm flipH="false" flipV="false" rot="0">
            <a:off x="2399528" y="2010004"/>
            <a:ext cx="4348038" cy="7670595"/>
          </a:xfrm>
          <a:custGeom>
            <a:avLst/>
            <a:gdLst/>
            <a:ahLst/>
            <a:cxnLst/>
            <a:rect r="r" b="b" t="t" l="l"/>
            <a:pathLst>
              <a:path h="7670595" w="4348038">
                <a:moveTo>
                  <a:pt x="0" y="0"/>
                </a:moveTo>
                <a:lnTo>
                  <a:pt x="4348038" y="0"/>
                </a:lnTo>
                <a:lnTo>
                  <a:pt x="4348038" y="7670595"/>
                </a:lnTo>
                <a:lnTo>
                  <a:pt x="0" y="7670595"/>
                </a:lnTo>
                <a:lnTo>
                  <a:pt x="0" y="0"/>
                </a:lnTo>
                <a:close/>
              </a:path>
            </a:pathLst>
          </a:custGeom>
          <a:blipFill>
            <a:blip r:embed="rId2"/>
            <a:stretch>
              <a:fillRect l="0" t="0" r="0" b="0"/>
            </a:stretch>
          </a:blipFill>
        </p:spPr>
      </p:sp>
      <p:sp>
        <p:nvSpPr>
          <p:cNvPr name="Freeform 3" id="3"/>
          <p:cNvSpPr/>
          <p:nvPr/>
        </p:nvSpPr>
        <p:spPr>
          <a:xfrm flipH="false" flipV="false" rot="0">
            <a:off x="6985691" y="2010004"/>
            <a:ext cx="4401983" cy="7711201"/>
          </a:xfrm>
          <a:custGeom>
            <a:avLst/>
            <a:gdLst/>
            <a:ahLst/>
            <a:cxnLst/>
            <a:rect r="r" b="b" t="t" l="l"/>
            <a:pathLst>
              <a:path h="7711201" w="4401983">
                <a:moveTo>
                  <a:pt x="0" y="0"/>
                </a:moveTo>
                <a:lnTo>
                  <a:pt x="4401982" y="0"/>
                </a:lnTo>
                <a:lnTo>
                  <a:pt x="4401982" y="7711201"/>
                </a:lnTo>
                <a:lnTo>
                  <a:pt x="0" y="7711201"/>
                </a:lnTo>
                <a:lnTo>
                  <a:pt x="0" y="0"/>
                </a:lnTo>
                <a:close/>
              </a:path>
            </a:pathLst>
          </a:custGeom>
          <a:blipFill>
            <a:blip r:embed="rId3"/>
            <a:stretch>
              <a:fillRect l="0" t="0" r="0" b="0"/>
            </a:stretch>
          </a:blipFill>
        </p:spPr>
      </p:sp>
      <p:sp>
        <p:nvSpPr>
          <p:cNvPr name="Freeform 4" id="4"/>
          <p:cNvSpPr/>
          <p:nvPr/>
        </p:nvSpPr>
        <p:spPr>
          <a:xfrm flipH="false" flipV="false" rot="0">
            <a:off x="11625798" y="2123856"/>
            <a:ext cx="4262674" cy="7597349"/>
          </a:xfrm>
          <a:custGeom>
            <a:avLst/>
            <a:gdLst/>
            <a:ahLst/>
            <a:cxnLst/>
            <a:rect r="r" b="b" t="t" l="l"/>
            <a:pathLst>
              <a:path h="7597349" w="4262674">
                <a:moveTo>
                  <a:pt x="0" y="0"/>
                </a:moveTo>
                <a:lnTo>
                  <a:pt x="4262674" y="0"/>
                </a:lnTo>
                <a:lnTo>
                  <a:pt x="4262674" y="7597349"/>
                </a:lnTo>
                <a:lnTo>
                  <a:pt x="0" y="7597349"/>
                </a:lnTo>
                <a:lnTo>
                  <a:pt x="0" y="0"/>
                </a:lnTo>
                <a:close/>
              </a:path>
            </a:pathLst>
          </a:custGeom>
          <a:blipFill>
            <a:blip r:embed="rId4"/>
            <a:stretch>
              <a:fillRect l="0" t="0" r="0" b="0"/>
            </a:stretch>
          </a:blipFill>
        </p:spPr>
      </p:sp>
      <p:sp>
        <p:nvSpPr>
          <p:cNvPr name="TextBox 5" id="5"/>
          <p:cNvSpPr txBox="true"/>
          <p:nvPr/>
        </p:nvSpPr>
        <p:spPr>
          <a:xfrm rot="0">
            <a:off x="3068240" y="922955"/>
            <a:ext cx="12151521" cy="778666"/>
          </a:xfrm>
          <a:prstGeom prst="rect">
            <a:avLst/>
          </a:prstGeom>
        </p:spPr>
        <p:txBody>
          <a:bodyPr anchor="t" rtlCol="false" tIns="0" lIns="0" bIns="0" rIns="0">
            <a:spAutoFit/>
          </a:bodyPr>
          <a:lstStyle/>
          <a:p>
            <a:pPr algn="ctr">
              <a:lnSpc>
                <a:spcPts val="5508"/>
              </a:lnSpc>
            </a:pPr>
            <a:r>
              <a:rPr lang="en-US" sz="6636">
                <a:solidFill>
                  <a:srgbClr val="FFD900"/>
                </a:solidFill>
                <a:latin typeface="Montserrat"/>
                <a:ea typeface="Montserrat"/>
                <a:cs typeface="Montserrat"/>
                <a:sym typeface="Montserrat"/>
              </a:rPr>
              <a:t>Performance Report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34343"/>
        </a:solidFill>
      </p:bgPr>
    </p:bg>
    <p:spTree>
      <p:nvGrpSpPr>
        <p:cNvPr id="1" name=""/>
        <p:cNvGrpSpPr/>
        <p:nvPr/>
      </p:nvGrpSpPr>
      <p:grpSpPr>
        <a:xfrm>
          <a:off x="0" y="0"/>
          <a:ext cx="0" cy="0"/>
          <a:chOff x="0" y="0"/>
          <a:chExt cx="0" cy="0"/>
        </a:xfrm>
      </p:grpSpPr>
      <p:sp>
        <p:nvSpPr>
          <p:cNvPr name="Freeform 2" id="2"/>
          <p:cNvSpPr/>
          <p:nvPr/>
        </p:nvSpPr>
        <p:spPr>
          <a:xfrm flipH="false" flipV="false" rot="0">
            <a:off x="2076122" y="2010004"/>
            <a:ext cx="4280587" cy="7711201"/>
          </a:xfrm>
          <a:custGeom>
            <a:avLst/>
            <a:gdLst/>
            <a:ahLst/>
            <a:cxnLst/>
            <a:rect r="r" b="b" t="t" l="l"/>
            <a:pathLst>
              <a:path h="7711201" w="4280587">
                <a:moveTo>
                  <a:pt x="0" y="0"/>
                </a:moveTo>
                <a:lnTo>
                  <a:pt x="4280587" y="0"/>
                </a:lnTo>
                <a:lnTo>
                  <a:pt x="4280587" y="7711201"/>
                </a:lnTo>
                <a:lnTo>
                  <a:pt x="0" y="7711201"/>
                </a:lnTo>
                <a:lnTo>
                  <a:pt x="0" y="0"/>
                </a:lnTo>
                <a:close/>
              </a:path>
            </a:pathLst>
          </a:custGeom>
          <a:blipFill>
            <a:blip r:embed="rId2"/>
            <a:stretch>
              <a:fillRect l="0" t="0" r="0" b="0"/>
            </a:stretch>
          </a:blipFill>
        </p:spPr>
      </p:sp>
      <p:sp>
        <p:nvSpPr>
          <p:cNvPr name="Freeform 3" id="3"/>
          <p:cNvSpPr/>
          <p:nvPr/>
        </p:nvSpPr>
        <p:spPr>
          <a:xfrm flipH="false" flipV="false" rot="0">
            <a:off x="6764138" y="2010004"/>
            <a:ext cx="4349370" cy="7711201"/>
          </a:xfrm>
          <a:custGeom>
            <a:avLst/>
            <a:gdLst/>
            <a:ahLst/>
            <a:cxnLst/>
            <a:rect r="r" b="b" t="t" l="l"/>
            <a:pathLst>
              <a:path h="7711201" w="4349370">
                <a:moveTo>
                  <a:pt x="0" y="0"/>
                </a:moveTo>
                <a:lnTo>
                  <a:pt x="4349370" y="0"/>
                </a:lnTo>
                <a:lnTo>
                  <a:pt x="4349370" y="7711201"/>
                </a:lnTo>
                <a:lnTo>
                  <a:pt x="0" y="7711201"/>
                </a:lnTo>
                <a:lnTo>
                  <a:pt x="0" y="0"/>
                </a:lnTo>
                <a:close/>
              </a:path>
            </a:pathLst>
          </a:custGeom>
          <a:blipFill>
            <a:blip r:embed="rId3"/>
            <a:stretch>
              <a:fillRect l="0" t="0" r="0" b="0"/>
            </a:stretch>
          </a:blipFill>
        </p:spPr>
      </p:sp>
      <p:sp>
        <p:nvSpPr>
          <p:cNvPr name="Freeform 4" id="4"/>
          <p:cNvSpPr/>
          <p:nvPr/>
        </p:nvSpPr>
        <p:spPr>
          <a:xfrm flipH="false" flipV="false" rot="0">
            <a:off x="11520937" y="2010004"/>
            <a:ext cx="4353098" cy="7711201"/>
          </a:xfrm>
          <a:custGeom>
            <a:avLst/>
            <a:gdLst/>
            <a:ahLst/>
            <a:cxnLst/>
            <a:rect r="r" b="b" t="t" l="l"/>
            <a:pathLst>
              <a:path h="7711201" w="4353098">
                <a:moveTo>
                  <a:pt x="0" y="0"/>
                </a:moveTo>
                <a:lnTo>
                  <a:pt x="4353098" y="0"/>
                </a:lnTo>
                <a:lnTo>
                  <a:pt x="4353098" y="7711201"/>
                </a:lnTo>
                <a:lnTo>
                  <a:pt x="0" y="7711201"/>
                </a:lnTo>
                <a:lnTo>
                  <a:pt x="0" y="0"/>
                </a:lnTo>
                <a:close/>
              </a:path>
            </a:pathLst>
          </a:custGeom>
          <a:blipFill>
            <a:blip r:embed="rId4"/>
            <a:stretch>
              <a:fillRect l="0" t="0" r="0" b="0"/>
            </a:stretch>
          </a:blipFill>
        </p:spPr>
      </p:sp>
      <p:sp>
        <p:nvSpPr>
          <p:cNvPr name="TextBox 5" id="5"/>
          <p:cNvSpPr txBox="true"/>
          <p:nvPr/>
        </p:nvSpPr>
        <p:spPr>
          <a:xfrm rot="0">
            <a:off x="3068240" y="922955"/>
            <a:ext cx="12151521" cy="778666"/>
          </a:xfrm>
          <a:prstGeom prst="rect">
            <a:avLst/>
          </a:prstGeom>
        </p:spPr>
        <p:txBody>
          <a:bodyPr anchor="t" rtlCol="false" tIns="0" lIns="0" bIns="0" rIns="0">
            <a:spAutoFit/>
          </a:bodyPr>
          <a:lstStyle/>
          <a:p>
            <a:pPr algn="ctr">
              <a:lnSpc>
                <a:spcPts val="5508"/>
              </a:lnSpc>
            </a:pPr>
            <a:r>
              <a:rPr lang="en-US" sz="6636">
                <a:solidFill>
                  <a:srgbClr val="FFD900"/>
                </a:solidFill>
                <a:latin typeface="Montserrat"/>
                <a:ea typeface="Montserrat"/>
                <a:cs typeface="Montserrat"/>
                <a:sym typeface="Montserrat"/>
              </a:rPr>
              <a:t>Performance Report</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434343"/>
        </a:solidFill>
      </p:bgPr>
    </p:bg>
    <p:spTree>
      <p:nvGrpSpPr>
        <p:cNvPr id="1" name=""/>
        <p:cNvGrpSpPr/>
        <p:nvPr/>
      </p:nvGrpSpPr>
      <p:grpSpPr>
        <a:xfrm>
          <a:off x="0" y="0"/>
          <a:ext cx="0" cy="0"/>
          <a:chOff x="0" y="0"/>
          <a:chExt cx="0" cy="0"/>
        </a:xfrm>
      </p:grpSpPr>
      <p:sp>
        <p:nvSpPr>
          <p:cNvPr name="TextBox 2" id="2"/>
          <p:cNvSpPr txBox="true"/>
          <p:nvPr/>
        </p:nvSpPr>
        <p:spPr>
          <a:xfrm rot="0">
            <a:off x="3068240" y="922955"/>
            <a:ext cx="12151521" cy="778666"/>
          </a:xfrm>
          <a:prstGeom prst="rect">
            <a:avLst/>
          </a:prstGeom>
        </p:spPr>
        <p:txBody>
          <a:bodyPr anchor="t" rtlCol="false" tIns="0" lIns="0" bIns="0" rIns="0">
            <a:spAutoFit/>
          </a:bodyPr>
          <a:lstStyle/>
          <a:p>
            <a:pPr algn="ctr">
              <a:lnSpc>
                <a:spcPts val="5508"/>
              </a:lnSpc>
            </a:pPr>
            <a:r>
              <a:rPr lang="en-US" sz="6636">
                <a:solidFill>
                  <a:srgbClr val="FFD900"/>
                </a:solidFill>
                <a:latin typeface="Montserrat"/>
                <a:ea typeface="Montserrat"/>
                <a:cs typeface="Montserrat"/>
                <a:sym typeface="Montserrat"/>
              </a:rPr>
              <a:t>Ethics and Security</a:t>
            </a:r>
          </a:p>
        </p:txBody>
      </p:sp>
      <p:sp>
        <p:nvSpPr>
          <p:cNvPr name="TextBox 3" id="3"/>
          <p:cNvSpPr txBox="true"/>
          <p:nvPr/>
        </p:nvSpPr>
        <p:spPr>
          <a:xfrm rot="0">
            <a:off x="3505529" y="2559417"/>
            <a:ext cx="5638471" cy="2430964"/>
          </a:xfrm>
          <a:prstGeom prst="rect">
            <a:avLst/>
          </a:prstGeom>
        </p:spPr>
        <p:txBody>
          <a:bodyPr anchor="t" rtlCol="false" tIns="0" lIns="0" bIns="0" rIns="0">
            <a:spAutoFit/>
          </a:bodyPr>
          <a:lstStyle/>
          <a:p>
            <a:pPr algn="l">
              <a:lnSpc>
                <a:spcPts val="3292"/>
              </a:lnSpc>
            </a:pPr>
            <a:r>
              <a:rPr lang="en-US" sz="2195" b="true">
                <a:solidFill>
                  <a:srgbClr val="FFFFFF"/>
                </a:solidFill>
                <a:latin typeface="Montserrat Bold"/>
                <a:ea typeface="Montserrat Bold"/>
                <a:cs typeface="Montserrat Bold"/>
                <a:sym typeface="Montserrat Bold"/>
              </a:rPr>
              <a:t>Responsible</a:t>
            </a:r>
            <a:r>
              <a:rPr lang="en-US" sz="2195" b="true">
                <a:solidFill>
                  <a:srgbClr val="FFFFFF"/>
                </a:solidFill>
                <a:latin typeface="Montserrat Bold"/>
                <a:ea typeface="Montserrat Bold"/>
                <a:cs typeface="Montserrat Bold"/>
                <a:sym typeface="Montserrat Bold"/>
              </a:rPr>
              <a:t> AI Use</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AI acts as a support tool, not a decision-maker</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Limited to library-related inquiries only</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Human oversight for critical actions</a:t>
            </a:r>
          </a:p>
        </p:txBody>
      </p:sp>
      <p:sp>
        <p:nvSpPr>
          <p:cNvPr name="TextBox 4" id="4"/>
          <p:cNvSpPr txBox="true"/>
          <p:nvPr/>
        </p:nvSpPr>
        <p:spPr>
          <a:xfrm rot="0">
            <a:off x="9875548" y="2559417"/>
            <a:ext cx="5638471" cy="2840539"/>
          </a:xfrm>
          <a:prstGeom prst="rect">
            <a:avLst/>
          </a:prstGeom>
        </p:spPr>
        <p:txBody>
          <a:bodyPr anchor="t" rtlCol="false" tIns="0" lIns="0" bIns="0" rIns="0">
            <a:spAutoFit/>
          </a:bodyPr>
          <a:lstStyle/>
          <a:p>
            <a:pPr algn="l">
              <a:lnSpc>
                <a:spcPts val="3292"/>
              </a:lnSpc>
            </a:pPr>
            <a:r>
              <a:rPr lang="en-US" sz="2195" b="true">
                <a:solidFill>
                  <a:srgbClr val="FFFFFF"/>
                </a:solidFill>
                <a:latin typeface="Montserrat Bold"/>
                <a:ea typeface="Montserrat Bold"/>
                <a:cs typeface="Montserrat Bold"/>
                <a:sym typeface="Montserrat Bold"/>
              </a:rPr>
              <a:t>Priv</a:t>
            </a:r>
            <a:r>
              <a:rPr lang="en-US" sz="2195" b="true">
                <a:solidFill>
                  <a:srgbClr val="FFFFFF"/>
                </a:solidFill>
                <a:latin typeface="Montserrat Bold"/>
                <a:ea typeface="Montserrat Bold"/>
                <a:cs typeface="Montserrat Bold"/>
                <a:sym typeface="Montserrat Bold"/>
              </a:rPr>
              <a:t>acy Protection</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Minimal data collection (data minimization)</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No unnecessary storage of personal data</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Complies with the Data Privacy Act of 2012 (RA 10173</a:t>
            </a:r>
          </a:p>
        </p:txBody>
      </p:sp>
      <p:sp>
        <p:nvSpPr>
          <p:cNvPr name="TextBox 5" id="5"/>
          <p:cNvSpPr txBox="true"/>
          <p:nvPr/>
        </p:nvSpPr>
        <p:spPr>
          <a:xfrm rot="0">
            <a:off x="3505529" y="5665960"/>
            <a:ext cx="5638471" cy="2430964"/>
          </a:xfrm>
          <a:prstGeom prst="rect">
            <a:avLst/>
          </a:prstGeom>
        </p:spPr>
        <p:txBody>
          <a:bodyPr anchor="t" rtlCol="false" tIns="0" lIns="0" bIns="0" rIns="0">
            <a:spAutoFit/>
          </a:bodyPr>
          <a:lstStyle/>
          <a:p>
            <a:pPr algn="l">
              <a:lnSpc>
                <a:spcPts val="3292"/>
              </a:lnSpc>
            </a:pPr>
            <a:r>
              <a:rPr lang="en-US" sz="2195" b="true">
                <a:solidFill>
                  <a:srgbClr val="FFFFFF"/>
                </a:solidFill>
                <a:latin typeface="Montserrat Bold"/>
                <a:ea typeface="Montserrat Bold"/>
                <a:cs typeface="Montserrat Bold"/>
                <a:sym typeface="Montserrat Bold"/>
              </a:rPr>
              <a:t>Se</a:t>
            </a:r>
            <a:r>
              <a:rPr lang="en-US" sz="2195" b="true">
                <a:solidFill>
                  <a:srgbClr val="FFFFFF"/>
                </a:solidFill>
                <a:latin typeface="Montserrat Bold"/>
                <a:ea typeface="Montserrat Bold"/>
                <a:cs typeface="Montserrat Bold"/>
                <a:sym typeface="Montserrat Bold"/>
              </a:rPr>
              <a:t>curity Measures</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HTTPS encrypted communication</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Role-based access control</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Secure authentication</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Protected n8n workflows and databases</a:t>
            </a:r>
          </a:p>
        </p:txBody>
      </p:sp>
      <p:sp>
        <p:nvSpPr>
          <p:cNvPr name="TextBox 6" id="6"/>
          <p:cNvSpPr txBox="true"/>
          <p:nvPr/>
        </p:nvSpPr>
        <p:spPr>
          <a:xfrm rot="0">
            <a:off x="9875548" y="5665960"/>
            <a:ext cx="5638471" cy="1611814"/>
          </a:xfrm>
          <a:prstGeom prst="rect">
            <a:avLst/>
          </a:prstGeom>
        </p:spPr>
        <p:txBody>
          <a:bodyPr anchor="t" rtlCol="false" tIns="0" lIns="0" bIns="0" rIns="0">
            <a:spAutoFit/>
          </a:bodyPr>
          <a:lstStyle/>
          <a:p>
            <a:pPr algn="l">
              <a:lnSpc>
                <a:spcPts val="3292"/>
              </a:lnSpc>
            </a:pPr>
            <a:r>
              <a:rPr lang="en-US" sz="2195" b="true">
                <a:solidFill>
                  <a:srgbClr val="FFFFFF"/>
                </a:solidFill>
                <a:latin typeface="Montserrat Bold"/>
                <a:ea typeface="Montserrat Bold"/>
                <a:cs typeface="Montserrat Bold"/>
                <a:sym typeface="Montserrat Bold"/>
              </a:rPr>
              <a:t>Ri</a:t>
            </a:r>
            <a:r>
              <a:rPr lang="en-US" sz="2195" b="true">
                <a:solidFill>
                  <a:srgbClr val="FFFFFF"/>
                </a:solidFill>
                <a:latin typeface="Montserrat Bold"/>
                <a:ea typeface="Montserrat Bold"/>
                <a:cs typeface="Montserrat Bold"/>
                <a:sym typeface="Montserrat Bold"/>
              </a:rPr>
              <a:t>sk</a:t>
            </a:r>
            <a:r>
              <a:rPr lang="en-US" sz="2195" b="true">
                <a:solidFill>
                  <a:srgbClr val="FFFFFF"/>
                </a:solidFill>
                <a:latin typeface="Montserrat Bold"/>
                <a:ea typeface="Montserrat Bold"/>
                <a:cs typeface="Montserrat Bold"/>
                <a:sym typeface="Montserrat Bold"/>
              </a:rPr>
              <a:t> Mitigation</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Regular dataset review</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Workflow audits</a:t>
            </a:r>
          </a:p>
          <a:p>
            <a:pPr algn="l" marL="473935" indent="-236968" lvl="1">
              <a:lnSpc>
                <a:spcPts val="3292"/>
              </a:lnSpc>
              <a:buFont typeface="Arial"/>
              <a:buChar char="•"/>
            </a:pPr>
            <a:r>
              <a:rPr lang="en-US" sz="2195">
                <a:solidFill>
                  <a:srgbClr val="FFFFFF"/>
                </a:solidFill>
                <a:latin typeface="Montserrat"/>
                <a:ea typeface="Montserrat"/>
                <a:cs typeface="Montserrat"/>
                <a:sym typeface="Montserrat"/>
              </a:rPr>
              <a:t>AI output monitoring</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543900" y="4652992"/>
            <a:ext cx="11200199" cy="1400117"/>
          </a:xfrm>
          <a:prstGeom prst="rect">
            <a:avLst/>
          </a:prstGeom>
        </p:spPr>
        <p:txBody>
          <a:bodyPr anchor="t" rtlCol="false" tIns="0" lIns="0" bIns="0" rIns="0">
            <a:spAutoFit/>
          </a:bodyPr>
          <a:lstStyle/>
          <a:p>
            <a:pPr algn="ctr">
              <a:lnSpc>
                <a:spcPts val="9926"/>
              </a:lnSpc>
            </a:pPr>
            <a:r>
              <a:rPr lang="en-US" sz="11959">
                <a:solidFill>
                  <a:srgbClr val="FFD900"/>
                </a:solidFill>
                <a:latin typeface="Montserrat"/>
                <a:ea typeface="Montserrat"/>
                <a:cs typeface="Montserrat"/>
                <a:sym typeface="Montserra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DAG7WMVVjwA</dc:identifier>
  <dcterms:modified xsi:type="dcterms:W3CDTF">2011-08-01T06:04:30Z</dcterms:modified>
  <cp:revision>1</cp:revision>
  <dc:title>Project Libby - Presentation</dc:title>
</cp:coreProperties>
</file>